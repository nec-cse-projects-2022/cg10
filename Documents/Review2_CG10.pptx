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63" r:id="rId10"/>
    <p:sldId id="265" r:id="rId11"/>
    <p:sldId id="264" r:id="rId12"/>
    <p:sldId id="266" r:id="rId13"/>
    <p:sldId id="268" r:id="rId14"/>
    <p:sldId id="279" r:id="rId15"/>
    <p:sldId id="280" r:id="rId16"/>
    <p:sldId id="269" r:id="rId17"/>
    <p:sldId id="271" r:id="rId18"/>
    <p:sldId id="276" r:id="rId19"/>
    <p:sldId id="277" r:id="rId20"/>
    <p:sldId id="278" r:id="rId21"/>
    <p:sldId id="270" r:id="rId22"/>
    <p:sldId id="272" r:id="rId23"/>
    <p:sldId id="275" r:id="rId24"/>
    <p:sldId id="27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99F91A-A5BB-4A5E-9559-BF7AA24E8597}" v="31" dt="2025-12-04T18:54:31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E6297-C1D7-4E1F-AB4F-68EAC1C6DCA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440E0-D9DE-4D08-A75B-CFD077199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031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5440E0-D9DE-4D08-A75B-CFD077199ED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118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3602-9EF3-A683-645F-0D7A6DCC6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180FE-3569-59D8-B7CD-F328C5F9D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636B9-3FF4-7A38-326B-A74B1ECB0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02B-FA77-4923-8B03-A60AEBAE550E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229CC-1949-BF25-95B8-D4F23EFCA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C9405-348F-00AF-B88E-F7625147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A90-6C53-49EB-8E6C-307672581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780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32762-3FAC-EEE4-D042-4F664561F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84027-5D0C-8D9D-7634-932BFD2CF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53758-C22D-A053-5387-0EBE2AF2E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02B-FA77-4923-8B03-A60AEBAE550E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62CF6-F289-B7E2-D836-DE47101EB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EE58D-E506-127B-AF14-CC45101A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A90-6C53-49EB-8E6C-307672581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67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6B9B-91F2-87FA-73D4-A87CF151C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040A1-88B3-8734-BD08-AA3D4CF7A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161A2-6498-700D-CD2D-C88EE73AF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02B-FA77-4923-8B03-A60AEBAE550E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462F6-5D1F-9E89-706F-1DED6EEE9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0C6B5-F983-DF9F-DC63-A1861FC67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A90-6C53-49EB-8E6C-307672581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08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1DA9D-8F39-7A97-7CD1-AA8015DAD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6C0E7-1C62-5F45-6D17-147D0E37E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3A296-E2D0-E949-1951-5886B60B6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F1F36-A692-F45B-D108-6DC6B96F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02B-FA77-4923-8B03-A60AEBAE550E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D4A48-575D-0AFB-80C8-E6F153771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256AD-FEB9-99FE-7142-FFFFF892A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A90-6C53-49EB-8E6C-307672581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65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79B0-FB61-0DA9-0B1C-25949C3D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306AC-0BED-E516-1900-BAC7C17E1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0FFC8-D034-F3DC-6472-BC1CF1762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A47763-4077-CAD6-A44F-2EEF1B5FE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48459E-5FCF-5040-D4C6-F1EB5823C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EAB8E-4A7A-7118-F726-0EC06A458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02B-FA77-4923-8B03-A60AEBAE550E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80665A-D00D-35AC-F5B0-C4319F3E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32D801-F398-E9A9-D09B-42181A26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A90-6C53-49EB-8E6C-307672581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768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88EE6-1A20-F3AD-F7CA-1845C544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22EC7B-89B8-FBE8-E993-F949997A0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02B-FA77-4923-8B03-A60AEBAE550E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D5BCC7-91C6-B85E-61F3-AB380B45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17340-1896-D4A6-807C-A5977689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A90-6C53-49EB-8E6C-307672581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859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F6EE1A-B927-1143-FA68-D9F60893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02B-FA77-4923-8B03-A60AEBAE550E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B63EEC-7268-BDB7-E30A-8238B8A3C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50004-1289-C86D-9B14-10AC67ABD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A90-6C53-49EB-8E6C-307672581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3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85A0F-C41D-E428-8497-019DE9D5B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DD941-02AC-424C-5B79-C5645DA25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9A5A7-4F79-9912-228A-B7FC15113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54017-15D9-6FAA-5D76-430FCC69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02B-FA77-4923-8B03-A60AEBAE550E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515B9-62EC-DF32-2D2F-E40E50BA8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473B2-76D1-CB31-ED02-74A56C524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A90-6C53-49EB-8E6C-307672581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848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05EEC-D69D-404F-327A-30D9082F2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E7150B-9ADE-6E21-C17C-47A472CE2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AA25F6-946B-28C0-FD1C-7E56CBBCF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7FA7-3FBB-5A51-7F9F-73D04F1C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02B-FA77-4923-8B03-A60AEBAE550E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37651-037D-312C-00DB-66D158041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8F8EC-FBCC-AB6F-CB66-4871D9617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A90-6C53-49EB-8E6C-307672581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147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65E71-40E3-29C9-9560-14FA0ABB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D5AF4-80E9-2636-A602-D9F81B64B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84F79-C7D3-301F-928D-9458EF9F1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02B-FA77-4923-8B03-A60AEBAE550E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2B84F-393B-6262-6F88-4DA49214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E141F-36BB-8208-93BF-92F0E703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A90-6C53-49EB-8E6C-307672581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65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71FBF1-1C1B-5024-1D83-BAD23DD271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87724-09BD-B8BB-DC3C-9E3A6C4A1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36A65-03CE-1ADC-FC85-6630092A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02B-FA77-4923-8B03-A60AEBAE550E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9589C-FEA8-4C65-6C50-03F3B139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78AF2-4C38-E692-711E-E759FCEF2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A90-6C53-49EB-8E6C-307672581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94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E03836-B1E0-75AA-176F-842B12A52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4926C-E949-699B-E075-50CEE8F8E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7EABE-0B78-7707-5444-6726039E8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8E02B-FA77-4923-8B03-A60AEBAE550E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A1271-A913-C522-E8EF-84DA71950C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621E5-F113-2616-E38F-366F258C1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A9A90-6C53-49EB-8E6C-307672581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65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A2D3-01F6-921B-E0AE-023F25580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0"/>
            <a:ext cx="9144000" cy="1894114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Meta-Fusion Ensemble of Transformer Models for Robust Multilingual and Cross-Domain Sentiment Classification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7C304D-2706-85B1-F168-D1FB9F568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351314"/>
            <a:ext cx="9427029" cy="4306161"/>
          </a:xfrm>
        </p:spPr>
        <p:txBody>
          <a:bodyPr>
            <a:norm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Vijaya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US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Professor,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 of Computer Science and Engineering, </a:t>
            </a:r>
          </a:p>
          <a:p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 (Autonomous), 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Narasaraopet- 522 601.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10-11-2025                                          Review No. 1                      Batch No. CG10                                      Department of CSE</a:t>
            </a:r>
            <a:r>
              <a:rPr lang="en-US" dirty="0"/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7ABBCA-2B81-CDCD-8644-23E645DD9884}"/>
              </a:ext>
            </a:extLst>
          </p:cNvPr>
          <p:cNvSpPr/>
          <p:nvPr/>
        </p:nvSpPr>
        <p:spPr>
          <a:xfrm>
            <a:off x="3763478" y="2645229"/>
            <a:ext cx="5438274" cy="1055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Prasanna Panchumarthi                  22471A05I3</a:t>
            </a: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JayaLakshmi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Kshatriya                  22471A05G6</a:t>
            </a: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Apsa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Shaik                                     22471A05I9 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9DF77-F65F-7AA4-733D-86F394049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1"/>
            <a:ext cx="12192000" cy="79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95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E81FE1-BE54-C832-4017-C83C36446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1F04946-3693-50E7-A9F6-B47DE5721BEA}"/>
              </a:ext>
            </a:extLst>
          </p:cNvPr>
          <p:cNvSpPr/>
          <p:nvPr/>
        </p:nvSpPr>
        <p:spPr>
          <a:xfrm>
            <a:off x="4299287" y="433137"/>
            <a:ext cx="3737811" cy="1106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DC080-DED2-4E9C-B0FD-70AECC10E44E}"/>
              </a:ext>
            </a:extLst>
          </p:cNvPr>
          <p:cNvSpPr/>
          <p:nvPr/>
        </p:nvSpPr>
        <p:spPr>
          <a:xfrm>
            <a:off x="721893" y="1540042"/>
            <a:ext cx="10379243" cy="45078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Abstract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Introduction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Literature Survey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Research Gaps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Problem Statement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Objectives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Block Diagram / Flow Diagram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Methodology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Implementation Code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Results and Analysis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Conclusion &amp; Future Scope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References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Question and Answers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14. Acknowledgements</a:t>
            </a:r>
          </a:p>
        </p:txBody>
      </p:sp>
    </p:spTree>
    <p:extLst>
      <p:ext uri="{BB962C8B-B14F-4D97-AF65-F5344CB8AC3E}">
        <p14:creationId xmlns:p14="http://schemas.microsoft.com/office/powerpoint/2010/main" val="3600973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F2A9A8-3B2D-1867-C67A-71ECE5E3B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7CEBF7-DB56-6516-0CDE-A6CC624D4A7E}"/>
              </a:ext>
            </a:extLst>
          </p:cNvPr>
          <p:cNvSpPr/>
          <p:nvPr/>
        </p:nvSpPr>
        <p:spPr>
          <a:xfrm>
            <a:off x="4154904" y="586578"/>
            <a:ext cx="3416970" cy="6784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82B8E-FB8E-E498-C541-36046D7155AD}"/>
              </a:ext>
            </a:extLst>
          </p:cNvPr>
          <p:cNvSpPr/>
          <p:nvPr/>
        </p:nvSpPr>
        <p:spPr>
          <a:xfrm rot="10800000" flipH="1" flipV="1">
            <a:off x="786062" y="1138989"/>
            <a:ext cx="10619875" cy="4604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Meta-Fusion Ensemble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for improved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classification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domains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Instead of depending on one model, the system combines four fine-tuned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models—BERT,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XLM-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Each model is trained on a different dataset, covering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media, movie reviews, product reviews, and multilingual text.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 outputs (logits) are merged using a learnable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MLP-based fusion layer,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automatically learns how much each model should contribute. This adaptive fusion approach offers better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generalization,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especially for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neutral sentiment,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compared to single models and static voting methods. The proposed method achieves an overall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of 86.91%,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proving its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for real-world sentiment analysis.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50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FA0863-ED70-D022-2002-B2BEA401B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878B7B-E00E-CB95-0541-BDF4A2E6E1EE}"/>
              </a:ext>
            </a:extLst>
          </p:cNvPr>
          <p:cNvSpPr txBox="1"/>
          <p:nvPr/>
        </p:nvSpPr>
        <p:spPr>
          <a:xfrm>
            <a:off x="4154904" y="659114"/>
            <a:ext cx="3609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5F774A-E9FE-7822-1B91-6D2DEAB88343}"/>
              </a:ext>
            </a:extLst>
          </p:cNvPr>
          <p:cNvSpPr/>
          <p:nvPr/>
        </p:nvSpPr>
        <p:spPr>
          <a:xfrm>
            <a:off x="457201" y="1034143"/>
            <a:ext cx="11478126" cy="55270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helps understand opinions from social media, reviews, and multilingual content.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transformer models like BERT,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XLM-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 text understanding.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single model struggles with domain shift, language variation, and neutral sentiment handling.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datasets require dataset-specific models for better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 Meta-Fusion Ensemble combining BERT,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XLM-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learnable MLP Fusion Layer merges their logits to capture inter-model relationships.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ensemble achieves better accuracy, generalization, and robust performance across domains and languages.</a:t>
            </a:r>
          </a:p>
        </p:txBody>
      </p:sp>
    </p:spTree>
    <p:extLst>
      <p:ext uri="{BB962C8B-B14F-4D97-AF65-F5344CB8AC3E}">
        <p14:creationId xmlns:p14="http://schemas.microsoft.com/office/powerpoint/2010/main" val="3209642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69493F-A6A9-4728-F5F2-6DD5B695F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D36234-76A0-8069-BCAB-8B301B78420E}"/>
              </a:ext>
            </a:extLst>
          </p:cNvPr>
          <p:cNvSpPr txBox="1"/>
          <p:nvPr/>
        </p:nvSpPr>
        <p:spPr>
          <a:xfrm>
            <a:off x="3048000" y="57000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D2F86C-BC5E-2185-E8AF-11CACBF40D4F}"/>
              </a:ext>
            </a:extLst>
          </p:cNvPr>
          <p:cNvSpPr/>
          <p:nvPr/>
        </p:nvSpPr>
        <p:spPr>
          <a:xfrm>
            <a:off x="336884" y="1093227"/>
            <a:ext cx="11582400" cy="55000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B69F75F-3990-82DE-7BAE-250A9484E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792567"/>
              </p:ext>
            </p:extLst>
          </p:nvPr>
        </p:nvGraphicFramePr>
        <p:xfrm>
          <a:off x="304799" y="1093227"/>
          <a:ext cx="11550315" cy="519476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50045">
                  <a:extLst>
                    <a:ext uri="{9D8B030D-6E8A-4147-A177-3AD203B41FA5}">
                      <a16:colId xmlns:a16="http://schemas.microsoft.com/office/drawing/2014/main" val="454491952"/>
                    </a:ext>
                  </a:extLst>
                </a:gridCol>
                <a:gridCol w="1650045">
                  <a:extLst>
                    <a:ext uri="{9D8B030D-6E8A-4147-A177-3AD203B41FA5}">
                      <a16:colId xmlns:a16="http://schemas.microsoft.com/office/drawing/2014/main" val="3891664984"/>
                    </a:ext>
                  </a:extLst>
                </a:gridCol>
                <a:gridCol w="1650045">
                  <a:extLst>
                    <a:ext uri="{9D8B030D-6E8A-4147-A177-3AD203B41FA5}">
                      <a16:colId xmlns:a16="http://schemas.microsoft.com/office/drawing/2014/main" val="903145726"/>
                    </a:ext>
                  </a:extLst>
                </a:gridCol>
                <a:gridCol w="1650045">
                  <a:extLst>
                    <a:ext uri="{9D8B030D-6E8A-4147-A177-3AD203B41FA5}">
                      <a16:colId xmlns:a16="http://schemas.microsoft.com/office/drawing/2014/main" val="1009790546"/>
                    </a:ext>
                  </a:extLst>
                </a:gridCol>
                <a:gridCol w="1650045">
                  <a:extLst>
                    <a:ext uri="{9D8B030D-6E8A-4147-A177-3AD203B41FA5}">
                      <a16:colId xmlns:a16="http://schemas.microsoft.com/office/drawing/2014/main" val="1315357964"/>
                    </a:ext>
                  </a:extLst>
                </a:gridCol>
                <a:gridCol w="1650045">
                  <a:extLst>
                    <a:ext uri="{9D8B030D-6E8A-4147-A177-3AD203B41FA5}">
                      <a16:colId xmlns:a16="http://schemas.microsoft.com/office/drawing/2014/main" val="2120675019"/>
                    </a:ext>
                  </a:extLst>
                </a:gridCol>
                <a:gridCol w="1650045">
                  <a:extLst>
                    <a:ext uri="{9D8B030D-6E8A-4147-A177-3AD203B41FA5}">
                      <a16:colId xmlns:a16="http://schemas.microsoft.com/office/drawing/2014/main" val="3400033783"/>
                    </a:ext>
                  </a:extLst>
                </a:gridCol>
              </a:tblGrid>
              <a:tr h="825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Title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Author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Journal Name &amp; Year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Methodology Adapted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Key Findings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Gaps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483012"/>
                  </a:ext>
                </a:extLst>
              </a:tr>
              <a:tr h="2168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Benchmark creation for aspect-based sentiment analysis in low-resource Odia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L. </a:t>
                      </a:r>
                      <a:r>
                        <a:rPr lang="en-IN" dirty="0" err="1"/>
                        <a:t>Dewangan</a:t>
                      </a:r>
                      <a:r>
                        <a:rPr lang="en-IN" dirty="0"/>
                        <a:t> </a:t>
                      </a:r>
                      <a:r>
                        <a:rPr lang="en-IN" i="1" dirty="0"/>
                        <a:t>et al.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i="1" dirty="0"/>
                        <a:t>COLING</a:t>
                      </a:r>
                      <a:r>
                        <a:rPr lang="en-IN" dirty="0"/>
                        <a:t>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ABSA dataset creation + baseline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New low-resource ABSA dataset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Limited to single language; lacks multilingual and cross-domain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938353"/>
                  </a:ext>
                </a:extLst>
              </a:tr>
              <a:tr h="22006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 err="1"/>
                        <a:t>SEntFiN</a:t>
                      </a:r>
                      <a:r>
                        <a:rPr lang="en-IN" dirty="0"/>
                        <a:t> 1.0 (Financial SA)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A. Sinha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 err="1"/>
                        <a:t>arXiv</a:t>
                      </a:r>
                      <a:r>
                        <a:rPr lang="en-IN" dirty="0"/>
                        <a:t>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Entity-aware financial SA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Better financial sentiment accuracy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Not multilingual; domain-specific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82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2597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5425E-15EF-F342-426C-E28E8947B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061778-DC33-EB34-82A0-D5739FBC9582}"/>
              </a:ext>
            </a:extLst>
          </p:cNvPr>
          <p:cNvSpPr/>
          <p:nvPr/>
        </p:nvSpPr>
        <p:spPr>
          <a:xfrm>
            <a:off x="336884" y="1093227"/>
            <a:ext cx="11582400" cy="55000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E25F4D-84F3-5504-4CEF-69A5A7854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661217"/>
              </p:ext>
            </p:extLst>
          </p:nvPr>
        </p:nvGraphicFramePr>
        <p:xfrm>
          <a:off x="336884" y="264695"/>
          <a:ext cx="11582401" cy="55900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54191">
                  <a:extLst>
                    <a:ext uri="{9D8B030D-6E8A-4147-A177-3AD203B41FA5}">
                      <a16:colId xmlns:a16="http://schemas.microsoft.com/office/drawing/2014/main" val="2901962481"/>
                    </a:ext>
                  </a:extLst>
                </a:gridCol>
                <a:gridCol w="1638035">
                  <a:extLst>
                    <a:ext uri="{9D8B030D-6E8A-4147-A177-3AD203B41FA5}">
                      <a16:colId xmlns:a16="http://schemas.microsoft.com/office/drawing/2014/main" val="3699201595"/>
                    </a:ext>
                  </a:extLst>
                </a:gridCol>
                <a:gridCol w="1638035">
                  <a:extLst>
                    <a:ext uri="{9D8B030D-6E8A-4147-A177-3AD203B41FA5}">
                      <a16:colId xmlns:a16="http://schemas.microsoft.com/office/drawing/2014/main" val="4270072912"/>
                    </a:ext>
                  </a:extLst>
                </a:gridCol>
                <a:gridCol w="1638035">
                  <a:extLst>
                    <a:ext uri="{9D8B030D-6E8A-4147-A177-3AD203B41FA5}">
                      <a16:colId xmlns:a16="http://schemas.microsoft.com/office/drawing/2014/main" val="1730086409"/>
                    </a:ext>
                  </a:extLst>
                </a:gridCol>
                <a:gridCol w="1577346">
                  <a:extLst>
                    <a:ext uri="{9D8B030D-6E8A-4147-A177-3AD203B41FA5}">
                      <a16:colId xmlns:a16="http://schemas.microsoft.com/office/drawing/2014/main" val="1097623426"/>
                    </a:ext>
                  </a:extLst>
                </a:gridCol>
                <a:gridCol w="1698724">
                  <a:extLst>
                    <a:ext uri="{9D8B030D-6E8A-4147-A177-3AD203B41FA5}">
                      <a16:colId xmlns:a16="http://schemas.microsoft.com/office/drawing/2014/main" val="1889128731"/>
                    </a:ext>
                  </a:extLst>
                </a:gridCol>
                <a:gridCol w="1638035">
                  <a:extLst>
                    <a:ext uri="{9D8B030D-6E8A-4147-A177-3AD203B41FA5}">
                      <a16:colId xmlns:a16="http://schemas.microsoft.com/office/drawing/2014/main" val="2520116861"/>
                    </a:ext>
                  </a:extLst>
                </a:gridCol>
              </a:tblGrid>
              <a:tr h="4909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No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Title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Author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Journal Name &amp; Year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Methodology Adapted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Key Findings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Gaps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450889"/>
                  </a:ext>
                </a:extLst>
              </a:tr>
              <a:tr h="15430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dirty="0"/>
                        <a:t>SA in LLM Era: A Reality Check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W. Zhang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 err="1"/>
                        <a:t>arXiv</a:t>
                      </a:r>
                      <a:r>
                        <a:rPr lang="en-IN" dirty="0"/>
                        <a:t>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LLM vs transformer benchmarking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Transformers still competitive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No ensemble or fusion 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925169"/>
                  </a:ext>
                </a:extLst>
              </a:tr>
              <a:tr h="13952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M-ABSA (21 languages)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C. Wu et al</a:t>
                      </a:r>
                      <a:r>
                        <a:rPr lang="en-IN" i="1" dirty="0"/>
                        <a:t>.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i="1" dirty="0" err="1"/>
                        <a:t>arXiv</a:t>
                      </a:r>
                      <a:r>
                        <a:rPr lang="en-IN" i="1" dirty="0"/>
                        <a:t> preprint</a:t>
                      </a:r>
                      <a:r>
                        <a:rPr lang="en-IN" dirty="0"/>
                        <a:t>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Multilingual ABSA + XLM-R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Strong multilingual performance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No ensemble or fusion 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318481"/>
                  </a:ext>
                </a:extLst>
              </a:tr>
              <a:tr h="15430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M2SA: Multimodal and multilingual sentiment analysis of tweets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G. Thakkar </a:t>
                      </a:r>
                      <a:r>
                        <a:rPr lang="en-IN" i="1"/>
                        <a:t>et al.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i="1"/>
                        <a:t>arXiv preprint</a:t>
                      </a:r>
                      <a:r>
                        <a:rPr lang="en-IN"/>
                        <a:t>, 2024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Text–image fusion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Multimodal improves accuracy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Computationally expensive; no lightweight ensemble mechanism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867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339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FED3E8-791B-7DA6-9655-07BF114B8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1A7E2D-D939-A16C-8CE3-EC12D6D3BD41}"/>
              </a:ext>
            </a:extLst>
          </p:cNvPr>
          <p:cNvSpPr txBox="1"/>
          <p:nvPr/>
        </p:nvSpPr>
        <p:spPr>
          <a:xfrm>
            <a:off x="4154904" y="264695"/>
            <a:ext cx="44121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Solved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56DF28-1082-FF63-A936-87F3B82B655C}"/>
              </a:ext>
            </a:extLst>
          </p:cNvPr>
          <p:cNvSpPr/>
          <p:nvPr/>
        </p:nvSpPr>
        <p:spPr>
          <a:xfrm>
            <a:off x="336884" y="1093227"/>
            <a:ext cx="11582400" cy="55000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Gap1: Weak cross-domain performance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Solved by: Training separate models on four different domains and combining them using meta-fusion for stronger generalization.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Gap2: Poor multilingual accuracy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✔ Solved by: Including XLM-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 multilingual dataset, improving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performance across multiple languages.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Gap3: Static fusion methods (voting/averaging) fail to capture model relationships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✔ Solved by: A learnable MLP Fusion Layer that understands inter-model dependencies.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Gap4: Neutral sentiment classification remains difficult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✔ Solved by: Fusion of diverse models improves neutral sentiment detection, 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which individual models struggle with.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Gap: Single transformer models overfit to their dataset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✔ </a:t>
            </a:r>
            <a:r>
              <a:rPr lang="en-US" sz="2400" i="1" dirty="0">
                <a:solidFill>
                  <a:schemeClr val="tx1"/>
                </a:solidFill>
              </a:rPr>
              <a:t>Solved by:</a:t>
            </a:r>
            <a:r>
              <a:rPr lang="en-US" sz="2400" dirty="0">
                <a:solidFill>
                  <a:schemeClr val="tx1"/>
                </a:solidFill>
              </a:rPr>
              <a:t> Using </a:t>
            </a:r>
            <a:r>
              <a:rPr lang="en-US" sz="2400" b="1" dirty="0">
                <a:solidFill>
                  <a:schemeClr val="tx1"/>
                </a:solidFill>
              </a:rPr>
              <a:t>logit-level fusion</a:t>
            </a:r>
            <a:r>
              <a:rPr lang="en-US" sz="2400" dirty="0">
                <a:solidFill>
                  <a:schemeClr val="tx1"/>
                </a:solidFill>
              </a:rPr>
              <a:t> to combine strengths while reducing dataset-specific bias.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393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455E4C-C2B7-7B02-B565-9959B31B7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BA601E-5D56-61AF-C94E-83892D74575E}"/>
              </a:ext>
            </a:extLst>
          </p:cNvPr>
          <p:cNvSpPr txBox="1"/>
          <p:nvPr/>
        </p:nvSpPr>
        <p:spPr>
          <a:xfrm>
            <a:off x="3048000" y="57000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D07822-EF3C-35E4-FAA0-D5CD0B4B135C}"/>
              </a:ext>
            </a:extLst>
          </p:cNvPr>
          <p:cNvSpPr/>
          <p:nvPr/>
        </p:nvSpPr>
        <p:spPr>
          <a:xfrm>
            <a:off x="612773" y="1587034"/>
            <a:ext cx="11178174" cy="470096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285750" marR="0" lvl="0" indent="-285750" algn="ju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Existing sentiment models:</a:t>
            </a:r>
          </a:p>
          <a:p>
            <a:pPr marL="285750" marR="0" lvl="0" indent="-285750" algn="ju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742950" marR="0" lvl="1" indent="-285750" algn="ju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Single-model systems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perform well on one dataset but fail in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cross-domain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and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multilingual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environments.</a:t>
            </a:r>
          </a:p>
          <a:p>
            <a:pPr marL="742950" marR="0" lvl="1" indent="-285750" algn="ju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Use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static fusion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(majority/average voting) which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ignores inter-model relationships.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Models struggle especially with </a:t>
            </a:r>
            <a:r>
              <a:rPr lang="en-US" sz="2400" b="1" dirty="0"/>
              <a:t>neutral sentiment </a:t>
            </a:r>
            <a:r>
              <a:rPr lang="en-US" sz="2400" dirty="0"/>
              <a:t>and domain shift.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R="0" lvl="0" algn="ju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285750" marR="0" lvl="0" indent="-285750" algn="ju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Need for:</a:t>
            </a:r>
          </a:p>
          <a:p>
            <a:pPr marL="0" marR="0" lvl="0" indent="0" algn="ju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trainable fusion mechanism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that learns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inter-logit dependencies </a:t>
            </a:r>
            <a:r>
              <a:rPr lang="en-IN" sz="2400" dirty="0"/>
              <a:t>between multiple transformer models.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742950" marR="0" lvl="1" indent="-285750" algn="ju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generalized framework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that works reliably across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different domains, languages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, and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data sources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.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907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CAA03C-5F5E-468F-44D3-7FCD9B2A9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FDDFCD-C847-0911-B0F6-F70A135F3AA6}"/>
              </a:ext>
            </a:extLst>
          </p:cNvPr>
          <p:cNvSpPr txBox="1"/>
          <p:nvPr/>
        </p:nvSpPr>
        <p:spPr>
          <a:xfrm>
            <a:off x="3048000" y="57000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DDA8C3-1F53-78A8-3DFE-20375A683E73}"/>
              </a:ext>
            </a:extLst>
          </p:cNvPr>
          <p:cNvSpPr/>
          <p:nvPr/>
        </p:nvSpPr>
        <p:spPr>
          <a:xfrm>
            <a:off x="481263" y="1093227"/>
            <a:ext cx="11101137" cy="51947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Meta-Fusion Ensemble that combines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BERT,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XLM-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robust sentiment analysis.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cross-domain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datasets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trainable logit-level fusion.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Overcome limitations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static ensemble methods by applying a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learnable MLP Fusion Layer.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neutral sentiment detection,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is the most challenging sentiment class.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balanced evaluation set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covering multiple sources to ensure fair and reliable performance testing.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 better generalization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leveraging strengths of multiple transformer models.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 scalable framework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real-world sentiment analysis applications.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178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E4073-02E4-DC8D-85E7-DC0AE3592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654E17-94C8-9E67-EC66-E38028DA7660}"/>
              </a:ext>
            </a:extLst>
          </p:cNvPr>
          <p:cNvSpPr txBox="1"/>
          <p:nvPr/>
        </p:nvSpPr>
        <p:spPr>
          <a:xfrm>
            <a:off x="3048000" y="49306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56DC17-9405-B57E-CFA5-AFADC829AD28}"/>
              </a:ext>
            </a:extLst>
          </p:cNvPr>
          <p:cNvSpPr txBox="1"/>
          <p:nvPr/>
        </p:nvSpPr>
        <p:spPr>
          <a:xfrm>
            <a:off x="272716" y="1171534"/>
            <a:ext cx="4860758" cy="4616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Dataset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benchmark datasets used: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Sentiment140 (Twitter – English)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IMDB (Movie reviews – English)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ABSA (Aspect-based sentiment – English)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Multilingual Sentiment Corpus (10+ languages)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fairness: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675 samples selected from each dataset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Combined evaluation set =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2700 balanced samples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Supports cross-domain &amp; multilingual testing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90CF03-B1D1-B587-143A-EAFC6029735D}"/>
              </a:ext>
            </a:extLst>
          </p:cNvPr>
          <p:cNvSpPr txBox="1"/>
          <p:nvPr/>
        </p:nvSpPr>
        <p:spPr>
          <a:xfrm>
            <a:off x="5358063" y="1171534"/>
            <a:ext cx="6561221" cy="55861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Preprocessing 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Cleaning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Remove special characters, URLs, emojis, extra spaces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BERTTokenizer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English datasets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XLMRobertaTokenizer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multilingual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ABSA Inputs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Aspect term + Sentence combined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Padding/Truncation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Fixed max length =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 tokens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Loader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Converts sequences to tensors (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input_ids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attention_mask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Uniform input format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Reduced noise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Improved model convergence</a:t>
            </a:r>
          </a:p>
        </p:txBody>
      </p:sp>
    </p:spTree>
    <p:extLst>
      <p:ext uri="{BB962C8B-B14F-4D97-AF65-F5344CB8AC3E}">
        <p14:creationId xmlns:p14="http://schemas.microsoft.com/office/powerpoint/2010/main" val="76189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322E81-D3A0-8A0F-6452-F0A94E22F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BAD4C1-26F4-5932-C0A5-F033D14BF9B2}"/>
              </a:ext>
            </a:extLst>
          </p:cNvPr>
          <p:cNvSpPr txBox="1"/>
          <p:nvPr/>
        </p:nvSpPr>
        <p:spPr>
          <a:xfrm>
            <a:off x="3048000" y="49306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 &amp; </a:t>
            </a:r>
            <a:r>
              <a:rPr lang="en-IN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Architectute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A4D902-BE02-E79C-7062-73BA487A2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399692"/>
              </p:ext>
            </p:extLst>
          </p:nvPr>
        </p:nvGraphicFramePr>
        <p:xfrm>
          <a:off x="304800" y="1171535"/>
          <a:ext cx="11454064" cy="5193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7032">
                  <a:extLst>
                    <a:ext uri="{9D8B030D-6E8A-4147-A177-3AD203B41FA5}">
                      <a16:colId xmlns:a16="http://schemas.microsoft.com/office/drawing/2014/main" val="3576386412"/>
                    </a:ext>
                  </a:extLst>
                </a:gridCol>
                <a:gridCol w="5727032">
                  <a:extLst>
                    <a:ext uri="{9D8B030D-6E8A-4147-A177-3AD203B41FA5}">
                      <a16:colId xmlns:a16="http://schemas.microsoft.com/office/drawing/2014/main" val="3864036006"/>
                    </a:ext>
                  </a:extLst>
                </a:gridCol>
              </a:tblGrid>
              <a:tr h="519340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21552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0325173-63F8-9EE3-B30B-3FC1F180C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6716" y="1311907"/>
            <a:ext cx="3064041" cy="47765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85CCC5-4BA0-1942-8035-037BCF02D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966" y="1171535"/>
            <a:ext cx="4181750" cy="503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40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E94ED9-CCF9-4E52-A59D-D8FE52D50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2E9C9D-1608-3659-9A91-05FB0F0C822E}"/>
              </a:ext>
            </a:extLst>
          </p:cNvPr>
          <p:cNvSpPr txBox="1"/>
          <p:nvPr/>
        </p:nvSpPr>
        <p:spPr>
          <a:xfrm>
            <a:off x="224589" y="1010653"/>
            <a:ext cx="5261811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Base Transformer Models (Individual Training)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models trained independently:</a:t>
            </a:r>
          </a:p>
          <a:p>
            <a:pPr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Trained on Sentiment140</a:t>
            </a:r>
          </a:p>
          <a:p>
            <a:pPr>
              <a:buFont typeface="+mj-lt"/>
              <a:buAutoNum type="arabicPeriod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Trained on IMDB</a:t>
            </a:r>
          </a:p>
          <a:p>
            <a:pPr>
              <a:buFont typeface="+mj-lt"/>
              <a:buAutoNum type="arabicPeriod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Trained on ABSA</a:t>
            </a:r>
          </a:p>
          <a:p>
            <a:pPr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XLM-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Trained on multilingual dataset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Cross-Entropy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2e-5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2–3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based on validation loss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outputs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(not final labels) for every sample.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806864-72DA-552A-0DB1-EA3CEB6D2D2F}"/>
              </a:ext>
            </a:extLst>
          </p:cNvPr>
          <p:cNvSpPr txBox="1"/>
          <p:nvPr/>
        </p:nvSpPr>
        <p:spPr>
          <a:xfrm>
            <a:off x="5807241" y="1010653"/>
            <a:ext cx="6160170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Meta-Fusion Architecture (Core of Your Work)</a:t>
            </a:r>
          </a:p>
          <a:p>
            <a:pPr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heart of your research.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Concatenate logits from all four models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[l1, l2, l3, l4]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them to a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learnable MLP Fusion Layer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Structure: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Layer 1 → 64 neurons,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Layer 2 → 32 neurons,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 →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 classes)</a:t>
            </a:r>
          </a:p>
          <a:p>
            <a:pPr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better?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Captures inter-model dependencies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Learns which model is more reliable for each input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Outperforms static ensemble (voting/averaging)</a:t>
            </a:r>
          </a:p>
          <a:p>
            <a:pPr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365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39A87D-6FEB-6584-B7EC-F75C956F5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D94D90-B1CC-8C85-67CA-E8BF46BB28E0}"/>
              </a:ext>
            </a:extLst>
          </p:cNvPr>
          <p:cNvSpPr txBox="1"/>
          <p:nvPr/>
        </p:nvSpPr>
        <p:spPr>
          <a:xfrm>
            <a:off x="192506" y="1433145"/>
            <a:ext cx="5374106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Model Training (Fusion Layer)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concatenated logits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Train–validation split: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80:20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Cross-Entropy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optimal weights to fuse information from multiple transformers.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1AF53E-BEA5-2C4C-4698-E34F1A6C2DFA}"/>
              </a:ext>
            </a:extLst>
          </p:cNvPr>
          <p:cNvSpPr txBox="1"/>
          <p:nvPr/>
        </p:nvSpPr>
        <p:spPr>
          <a:xfrm>
            <a:off x="5807242" y="1315453"/>
            <a:ext cx="6192252" cy="53806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Evaluation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Macro-F1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Per-class performance (Positive/Negative/Neutral)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Meta-Fusion MLP = 86.91% accuracy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Best performance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 sentiment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hardest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Better generalization than individual models</a:t>
            </a:r>
          </a:p>
        </p:txBody>
      </p:sp>
    </p:spTree>
    <p:extLst>
      <p:ext uri="{BB962C8B-B14F-4D97-AF65-F5344CB8AC3E}">
        <p14:creationId xmlns:p14="http://schemas.microsoft.com/office/powerpoint/2010/main" val="4111809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27BBC9-1CA2-A256-BA76-143B4B1FBF6E}"/>
              </a:ext>
            </a:extLst>
          </p:cNvPr>
          <p:cNvSpPr txBox="1"/>
          <p:nvPr/>
        </p:nvSpPr>
        <p:spPr>
          <a:xfrm>
            <a:off x="0" y="794106"/>
            <a:ext cx="6781800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# Load pre-trained multilingual transformer models</a:t>
            </a:r>
          </a:p>
          <a:p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tokenizer_bert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BertTokenizer.from_pretrained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-base-multilingual-cased")</a:t>
            </a:r>
          </a:p>
          <a:p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tokenizer_roberta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XLMRobertaTokenizer.from_pretrained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xlm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-base")</a:t>
            </a:r>
          </a:p>
          <a:p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tokenizer_electra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AutoTokenizer.from_pretrained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("google/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electra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-base-discriminator")</a:t>
            </a:r>
          </a:p>
          <a:p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tokenizer_xlm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AutoTokenizer.from_pretrained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xlm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-base")</a:t>
            </a:r>
          </a:p>
          <a:p>
            <a:endParaRPr lang="en-IN" sz="1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model_bert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BertModel.from_pretrained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-base-multilingual-cased").to(device).eval()</a:t>
            </a:r>
          </a:p>
          <a:p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model_roberta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XLMRobertaModel.from_pretrained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xlm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-base").to(device).eval()</a:t>
            </a:r>
          </a:p>
          <a:p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model_electra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AutoModel.from_pretrained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("google/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electra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-base-discriminator").to(device).eval()</a:t>
            </a:r>
          </a:p>
          <a:p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model_xlm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AutoModel.from_pretrained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xlm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-base").to(device).eval()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37A4BF-2ED9-A338-DCAE-AAE84EA98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1"/>
            <a:ext cx="4005943" cy="5878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753EF3-CD26-27A3-2D4C-AED99124D4FF}"/>
              </a:ext>
            </a:extLst>
          </p:cNvPr>
          <p:cNvSpPr txBox="1"/>
          <p:nvPr/>
        </p:nvSpPr>
        <p:spPr>
          <a:xfrm>
            <a:off x="6912429" y="794107"/>
            <a:ext cx="5181600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400" dirty="0">
                <a:highlight>
                  <a:srgbClr val="00FF00"/>
                </a:highlight>
              </a:rPr>
              <a:t># Extract CLS embeddings</a:t>
            </a:r>
          </a:p>
          <a:p>
            <a:r>
              <a:rPr lang="en-IN" sz="1400" dirty="0">
                <a:highlight>
                  <a:srgbClr val="00FF00"/>
                </a:highlight>
              </a:rPr>
              <a:t>def </a:t>
            </a:r>
            <a:r>
              <a:rPr lang="en-IN" sz="1400" dirty="0" err="1">
                <a:highlight>
                  <a:srgbClr val="00FF00"/>
                </a:highlight>
              </a:rPr>
              <a:t>extract_cls</a:t>
            </a:r>
            <a:r>
              <a:rPr lang="en-IN" sz="1400" dirty="0">
                <a:highlight>
                  <a:srgbClr val="00FF00"/>
                </a:highlight>
              </a:rPr>
              <a:t>(model, tokenizer, texts):</a:t>
            </a:r>
          </a:p>
          <a:p>
            <a:r>
              <a:rPr lang="en-IN" sz="1400" dirty="0">
                <a:highlight>
                  <a:srgbClr val="00FF00"/>
                </a:highlight>
              </a:rPr>
              <a:t>    </a:t>
            </a:r>
            <a:r>
              <a:rPr lang="en-IN" sz="1400" dirty="0" err="1">
                <a:highlight>
                  <a:srgbClr val="00FF00"/>
                </a:highlight>
              </a:rPr>
              <a:t>cls_outputs</a:t>
            </a:r>
            <a:r>
              <a:rPr lang="en-IN" sz="1400" dirty="0">
                <a:highlight>
                  <a:srgbClr val="00FF00"/>
                </a:highlight>
              </a:rPr>
              <a:t> = []</a:t>
            </a:r>
          </a:p>
          <a:p>
            <a:r>
              <a:rPr lang="en-IN" sz="1400" dirty="0">
                <a:highlight>
                  <a:srgbClr val="00FF00"/>
                </a:highlight>
              </a:rPr>
              <a:t>    for text in texts:</a:t>
            </a:r>
          </a:p>
          <a:p>
            <a:r>
              <a:rPr lang="en-IN" sz="1400" dirty="0">
                <a:highlight>
                  <a:srgbClr val="00FF00"/>
                </a:highlight>
              </a:rPr>
              <a:t>        encoded = tokenizer(text, </a:t>
            </a:r>
            <a:r>
              <a:rPr lang="en-IN" sz="1400" dirty="0" err="1">
                <a:highlight>
                  <a:srgbClr val="00FF00"/>
                </a:highlight>
              </a:rPr>
              <a:t>return_tensors</a:t>
            </a:r>
            <a:r>
              <a:rPr lang="en-IN" sz="1400" dirty="0">
                <a:highlight>
                  <a:srgbClr val="00FF00"/>
                </a:highlight>
              </a:rPr>
              <a:t>='pt', truncation=True, padding='</a:t>
            </a:r>
            <a:r>
              <a:rPr lang="en-IN" sz="1400" dirty="0" err="1">
                <a:highlight>
                  <a:srgbClr val="00FF00"/>
                </a:highlight>
              </a:rPr>
              <a:t>max_length</a:t>
            </a:r>
            <a:r>
              <a:rPr lang="en-IN" sz="1400" dirty="0">
                <a:highlight>
                  <a:srgbClr val="00FF00"/>
                </a:highlight>
              </a:rPr>
              <a:t>', </a:t>
            </a:r>
            <a:r>
              <a:rPr lang="en-IN" sz="1400" dirty="0" err="1">
                <a:highlight>
                  <a:srgbClr val="00FF00"/>
                </a:highlight>
              </a:rPr>
              <a:t>max_length</a:t>
            </a:r>
            <a:r>
              <a:rPr lang="en-IN" sz="1400" dirty="0">
                <a:highlight>
                  <a:srgbClr val="00FF00"/>
                </a:highlight>
              </a:rPr>
              <a:t>=128).to(device)</a:t>
            </a:r>
          </a:p>
          <a:p>
            <a:r>
              <a:rPr lang="en-IN" sz="1400" dirty="0">
                <a:highlight>
                  <a:srgbClr val="00FF00"/>
                </a:highlight>
              </a:rPr>
              <a:t>        with </a:t>
            </a:r>
            <a:r>
              <a:rPr lang="en-IN" sz="1400" dirty="0" err="1">
                <a:highlight>
                  <a:srgbClr val="00FF00"/>
                </a:highlight>
              </a:rPr>
              <a:t>torch.no_grad</a:t>
            </a:r>
            <a:r>
              <a:rPr lang="en-IN" sz="1400" dirty="0">
                <a:highlight>
                  <a:srgbClr val="00FF00"/>
                </a:highlight>
              </a:rPr>
              <a:t>():</a:t>
            </a:r>
          </a:p>
          <a:p>
            <a:r>
              <a:rPr lang="en-IN" sz="1400" dirty="0">
                <a:highlight>
                  <a:srgbClr val="00FF00"/>
                </a:highlight>
              </a:rPr>
              <a:t>            output = model(**encoded)</a:t>
            </a:r>
          </a:p>
          <a:p>
            <a:r>
              <a:rPr lang="en-IN" sz="1400" dirty="0">
                <a:highlight>
                  <a:srgbClr val="00FF00"/>
                </a:highlight>
              </a:rPr>
              <a:t>        </a:t>
            </a:r>
            <a:r>
              <a:rPr lang="en-IN" sz="1400" dirty="0" err="1">
                <a:highlight>
                  <a:srgbClr val="00FF00"/>
                </a:highlight>
              </a:rPr>
              <a:t>cls_vec</a:t>
            </a:r>
            <a:r>
              <a:rPr lang="en-IN" sz="1400" dirty="0">
                <a:highlight>
                  <a:srgbClr val="00FF00"/>
                </a:highlight>
              </a:rPr>
              <a:t> = </a:t>
            </a:r>
            <a:r>
              <a:rPr lang="en-IN" sz="1400" dirty="0" err="1">
                <a:highlight>
                  <a:srgbClr val="00FF00"/>
                </a:highlight>
              </a:rPr>
              <a:t>output.last_hidden_state</a:t>
            </a:r>
            <a:r>
              <a:rPr lang="en-IN" sz="1400" dirty="0">
                <a:highlight>
                  <a:srgbClr val="00FF00"/>
                </a:highlight>
              </a:rPr>
              <a:t>[:, 0, :].</a:t>
            </a:r>
            <a:r>
              <a:rPr lang="en-IN" sz="1400" dirty="0" err="1">
                <a:highlight>
                  <a:srgbClr val="00FF00"/>
                </a:highlight>
              </a:rPr>
              <a:t>cpu</a:t>
            </a:r>
            <a:r>
              <a:rPr lang="en-IN" sz="1400" dirty="0">
                <a:highlight>
                  <a:srgbClr val="00FF00"/>
                </a:highlight>
              </a:rPr>
              <a:t>()</a:t>
            </a:r>
          </a:p>
          <a:p>
            <a:r>
              <a:rPr lang="en-IN" sz="1400" dirty="0">
                <a:highlight>
                  <a:srgbClr val="00FF00"/>
                </a:highlight>
              </a:rPr>
              <a:t>        </a:t>
            </a:r>
            <a:r>
              <a:rPr lang="en-IN" sz="1400" dirty="0" err="1">
                <a:highlight>
                  <a:srgbClr val="00FF00"/>
                </a:highlight>
              </a:rPr>
              <a:t>cls_outputs.append</a:t>
            </a:r>
            <a:r>
              <a:rPr lang="en-IN" sz="1400" dirty="0">
                <a:highlight>
                  <a:srgbClr val="00FF00"/>
                </a:highlight>
              </a:rPr>
              <a:t>(</a:t>
            </a:r>
            <a:r>
              <a:rPr lang="en-IN" sz="1400" dirty="0" err="1">
                <a:highlight>
                  <a:srgbClr val="00FF00"/>
                </a:highlight>
              </a:rPr>
              <a:t>cls_vec</a:t>
            </a:r>
            <a:r>
              <a:rPr lang="en-IN" sz="1400" dirty="0">
                <a:highlight>
                  <a:srgbClr val="00FF00"/>
                </a:highlight>
              </a:rPr>
              <a:t>)</a:t>
            </a:r>
          </a:p>
          <a:p>
            <a:r>
              <a:rPr lang="en-IN" sz="1400" dirty="0">
                <a:highlight>
                  <a:srgbClr val="00FF00"/>
                </a:highlight>
              </a:rPr>
              <a:t>    return torch.cat(</a:t>
            </a:r>
            <a:r>
              <a:rPr lang="en-IN" sz="1400" dirty="0" err="1">
                <a:highlight>
                  <a:srgbClr val="00FF00"/>
                </a:highlight>
              </a:rPr>
              <a:t>cls_outputs</a:t>
            </a:r>
            <a:r>
              <a:rPr lang="en-IN" sz="1400" dirty="0">
                <a:highlight>
                  <a:srgbClr val="00FF00"/>
                </a:highlight>
              </a:rPr>
              <a:t>, dim=0)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337406-F7D7-235F-AA3A-A3554C84F67E}"/>
              </a:ext>
            </a:extLst>
          </p:cNvPr>
          <p:cNvSpPr txBox="1"/>
          <p:nvPr/>
        </p:nvSpPr>
        <p:spPr>
          <a:xfrm>
            <a:off x="97971" y="4702628"/>
            <a:ext cx="5355772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cls_bert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extract_cls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model_bert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tokenizer_bert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["text"])</a:t>
            </a:r>
          </a:p>
          <a:p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cls_roberta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extract_cls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model_roberta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tokenizer_roberta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["text"])</a:t>
            </a:r>
          </a:p>
          <a:p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cls_electra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extract_cls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model_electra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tokenizer_electra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["text"])</a:t>
            </a:r>
          </a:p>
          <a:p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cls_xlm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extract_cls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model_xlm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tokenizer_xlm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["text"])</a:t>
            </a:r>
          </a:p>
          <a:p>
            <a:endParaRPr lang="en-IN" sz="1400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# Combine features (Stacked CLS embeddings)</a:t>
            </a:r>
          </a:p>
          <a:p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X_fusion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torch.stack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cls_bert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cls_roberta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cls_electra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cls_xlm</a:t>
            </a:r>
            <a:r>
              <a:rPr lang="en-IN" sz="1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], dim=1)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DF0B68-2F19-CF5F-F047-F5FCD72E3922}"/>
              </a:ext>
            </a:extLst>
          </p:cNvPr>
          <p:cNvSpPr txBox="1"/>
          <p:nvPr/>
        </p:nvSpPr>
        <p:spPr>
          <a:xfrm>
            <a:off x="5595256" y="3601682"/>
            <a:ext cx="6498773" cy="317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MLP Classifier</a:t>
            </a:r>
          </a:p>
          <a:p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MLPClassifier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nn.Module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def __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__(self,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input_dim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=3072, hidden1=512, hidden2=128,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num_classes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=3):</a:t>
            </a:r>
          </a:p>
          <a:p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super().__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</a:p>
          <a:p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self.fc1 =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input_dim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hidden1)</a:t>
            </a:r>
          </a:p>
          <a:p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self.bn1 = nn.BatchNorm1d(hidden1)</a:t>
            </a:r>
          </a:p>
          <a:p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self.fc2 =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(hidden1, hidden2)</a:t>
            </a:r>
          </a:p>
          <a:p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self.bn2 = nn.BatchNorm1d(hidden2)</a:t>
            </a:r>
          </a:p>
          <a:p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self.out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(hidden2,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num_classes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1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def forward(self, x):</a:t>
            </a:r>
          </a:p>
          <a:p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x =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F.relu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(self.bn1(self.fc1(x)))</a:t>
            </a:r>
          </a:p>
          <a:p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x =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F.relu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(self.bn2(self.fc2(x)))</a:t>
            </a:r>
          </a:p>
          <a:p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</a:t>
            </a:r>
            <a:r>
              <a:rPr lang="en-IN" sz="1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self.out</a:t>
            </a:r>
            <a:r>
              <a:rPr lang="en-IN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B8B8C6-263D-C522-E33A-CBB332EE1E63}"/>
              </a:ext>
            </a:extLst>
          </p:cNvPr>
          <p:cNvSpPr txBox="1"/>
          <p:nvPr/>
        </p:nvSpPr>
        <p:spPr>
          <a:xfrm>
            <a:off x="4811487" y="76201"/>
            <a:ext cx="42780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Codes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BCFA53-0D3F-2707-BF50-4CDEA65D7151}"/>
              </a:ext>
            </a:extLst>
          </p:cNvPr>
          <p:cNvSpPr/>
          <p:nvPr/>
        </p:nvSpPr>
        <p:spPr>
          <a:xfrm>
            <a:off x="239486" y="3690257"/>
            <a:ext cx="4887685" cy="751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(CLS + Fusion Stack)</a:t>
            </a:r>
          </a:p>
        </p:txBody>
      </p:sp>
    </p:spTree>
    <p:extLst>
      <p:ext uri="{BB962C8B-B14F-4D97-AF65-F5344CB8AC3E}">
        <p14:creationId xmlns:p14="http://schemas.microsoft.com/office/powerpoint/2010/main" val="3532918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ED09D1-B2B2-2BD4-593C-8661329C1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1"/>
            <a:ext cx="4005943" cy="5878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6CF1A9-3181-D5E4-6ADF-33960E29E9A9}"/>
              </a:ext>
            </a:extLst>
          </p:cNvPr>
          <p:cNvSpPr txBox="1"/>
          <p:nvPr/>
        </p:nvSpPr>
        <p:spPr>
          <a:xfrm>
            <a:off x="413657" y="1251857"/>
            <a:ext cx="11527971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# Prepare fusion features</a:t>
            </a:r>
          </a:p>
          <a:p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fusion_features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X_fusion.reshape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X_fusion.shape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[0], -1)</a:t>
            </a:r>
          </a:p>
          <a:p>
            <a:endParaRPr lang="en-IN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# Train classifier</a:t>
            </a:r>
          </a:p>
          <a:p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MLPClassifier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().to(device)</a:t>
            </a:r>
          </a:p>
          <a:p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criterion = 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nn.CrossEntropyLoss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optimizer = 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torch.optim.Adam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model.parameters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=1e-4)</a:t>
            </a:r>
          </a:p>
          <a:p>
            <a:endParaRPr lang="en-IN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 epoch in range(5):</a:t>
            </a:r>
          </a:p>
          <a:p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optimizer.zero_grad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preds = model(fusion_features.to(device))</a:t>
            </a:r>
          </a:p>
          <a:p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loss = criterion(preds, 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torch.tensor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["label"].values).to(device))</a:t>
            </a:r>
          </a:p>
          <a:p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loss.backward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optimizer.step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print(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f"Epoch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{epoch+1}: Loss = {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loss.item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():.4f}")</a:t>
            </a:r>
          </a:p>
          <a:p>
            <a:endParaRPr lang="en-IN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# Evaluation</a:t>
            </a:r>
          </a:p>
          <a:p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torch.argmax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(model(fusion_features.to(device)), dim=1).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classification_report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["label"], </a:t>
            </a:r>
            <a:r>
              <a:rPr lang="en-I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3AA938-E809-B90E-47B9-70CFF5E5B923}"/>
              </a:ext>
            </a:extLst>
          </p:cNvPr>
          <p:cNvSpPr/>
          <p:nvPr/>
        </p:nvSpPr>
        <p:spPr>
          <a:xfrm>
            <a:off x="4201886" y="446314"/>
            <a:ext cx="4299857" cy="5878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+ Evaluation</a:t>
            </a:r>
          </a:p>
        </p:txBody>
      </p:sp>
    </p:spTree>
    <p:extLst>
      <p:ext uri="{BB962C8B-B14F-4D97-AF65-F5344CB8AC3E}">
        <p14:creationId xmlns:p14="http://schemas.microsoft.com/office/powerpoint/2010/main" val="1085168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6CF210-7FA6-C600-01A5-E146146BC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21F287-9446-93BB-75B4-3AB35DFA1351}"/>
              </a:ext>
            </a:extLst>
          </p:cNvPr>
          <p:cNvSpPr txBox="1"/>
          <p:nvPr/>
        </p:nvSpPr>
        <p:spPr>
          <a:xfrm>
            <a:off x="3048000" y="49306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AE50F8-3C62-CA95-EDDE-2CD5CACDE202}"/>
              </a:ext>
            </a:extLst>
          </p:cNvPr>
          <p:cNvSpPr/>
          <p:nvPr/>
        </p:nvSpPr>
        <p:spPr>
          <a:xfrm>
            <a:off x="460375" y="1425575"/>
            <a:ext cx="11346614" cy="49393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Evaluation Metrics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F1-score used to test performance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Comparison with Base Models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BERT: 85.3% | 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87.0% | 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83.2% | XLM-R: 83.9%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Meta-Fusion (ours): 86.9%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Against Traditional Models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SVM: 72.5% | CNN: 75.8% | Shallow ML: 70.1%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 performs ~11% better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well across different domains &amp; languages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Low overfitting, stable training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Dynamic fusion gives better results than static voting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916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5FBB1E-24A8-128B-1886-E87D257EF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E6E031-7EC8-D2DB-6ACE-D86A926349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8" y="1019474"/>
            <a:ext cx="5364229" cy="51888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42ED88-B83D-121E-60AB-C9BFDBBD53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449" y="1019474"/>
            <a:ext cx="6220473" cy="499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73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F4015F-FF8D-1B55-1B63-3B64A2E7CC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069E13-F95D-CD86-3414-D508933820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14" y="1132114"/>
            <a:ext cx="11483861" cy="48956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265441-DF4C-C12B-5166-F6C05C367325}"/>
              </a:ext>
            </a:extLst>
          </p:cNvPr>
          <p:cNvSpPr txBox="1"/>
          <p:nvPr/>
        </p:nvSpPr>
        <p:spPr>
          <a:xfrm>
            <a:off x="4716378" y="192505"/>
            <a:ext cx="50051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Prediction 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451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EFB7CD-6B27-0706-7028-D2B80F520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B7D1F6-5192-9F39-B3BB-5057A96A7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53" y="925286"/>
            <a:ext cx="10555410" cy="51271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B99807-64A9-4762-328F-A042AD52FBAC}"/>
              </a:ext>
            </a:extLst>
          </p:cNvPr>
          <p:cNvSpPr txBox="1"/>
          <p:nvPr/>
        </p:nvSpPr>
        <p:spPr>
          <a:xfrm>
            <a:off x="4498663" y="153827"/>
            <a:ext cx="50051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Prediction</a:t>
            </a:r>
          </a:p>
        </p:txBody>
      </p:sp>
    </p:spTree>
    <p:extLst>
      <p:ext uri="{BB962C8B-B14F-4D97-AF65-F5344CB8AC3E}">
        <p14:creationId xmlns:p14="http://schemas.microsoft.com/office/powerpoint/2010/main" val="4115825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F5E556-74AB-CF04-F6DD-58A40AA28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14" y="893935"/>
            <a:ext cx="10972800" cy="562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FC736B-71C7-3BD5-109D-FCEDA89D0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875704-9E0A-D672-1E86-C4D86E6B0F3A}"/>
              </a:ext>
            </a:extLst>
          </p:cNvPr>
          <p:cNvSpPr txBox="1"/>
          <p:nvPr/>
        </p:nvSpPr>
        <p:spPr>
          <a:xfrm>
            <a:off x="4716378" y="192505"/>
            <a:ext cx="50051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Prediction</a:t>
            </a:r>
          </a:p>
        </p:txBody>
      </p:sp>
    </p:spTree>
    <p:extLst>
      <p:ext uri="{BB962C8B-B14F-4D97-AF65-F5344CB8AC3E}">
        <p14:creationId xmlns:p14="http://schemas.microsoft.com/office/powerpoint/2010/main" val="1334492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4F9DAF-322B-C3C7-1293-C878E0997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08B068-F585-10D2-2287-5EDA8E90B0FB}"/>
              </a:ext>
            </a:extLst>
          </p:cNvPr>
          <p:cNvSpPr txBox="1"/>
          <p:nvPr/>
        </p:nvSpPr>
        <p:spPr>
          <a:xfrm>
            <a:off x="4716378" y="192505"/>
            <a:ext cx="50051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Concusion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Future Scope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F3214D6-F313-D210-3A5C-54DCFACAA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74" y="831617"/>
            <a:ext cx="11630526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model delivers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and balanced F1 performance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multilingual sentiment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shows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generalization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languages and domains with minimal overfitting.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fusion approach effectively handles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neutral and ambiguous sentiments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ensures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reliable and scalable sentiment prediction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real-world applications.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15BB5D-5C36-45E9-CAE7-EFD14B133748}"/>
              </a:ext>
            </a:extLst>
          </p:cNvPr>
          <p:cNvSpPr txBox="1"/>
          <p:nvPr/>
        </p:nvSpPr>
        <p:spPr>
          <a:xfrm rot="10800000" flipV="1">
            <a:off x="561473" y="3884002"/>
            <a:ext cx="11229473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model to low-resource and zero-shot languages for wider multilingual coverage.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multimodal fusion by combining text with images, audio, or video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attention mechanisms or neural architecture search to enhance fusion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system as a real-time sentiment analysis tool for social media and review platforms.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294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6F930B-6254-19F3-324F-927C680AB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1"/>
            <a:ext cx="4154905" cy="6784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0F59BD-A66A-0FF1-0EFF-05ADD6C797F5}"/>
              </a:ext>
            </a:extLst>
          </p:cNvPr>
          <p:cNvSpPr txBox="1"/>
          <p:nvPr/>
        </p:nvSpPr>
        <p:spPr>
          <a:xfrm>
            <a:off x="3048000" y="49306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982A42-68A6-770B-726B-8432A8F2A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642" y="1234237"/>
            <a:ext cx="11261557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Dewangan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“Benchmark creation for aspect-based sentiment analysis in low-resource Odia language,”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Proc. COLING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Yeshpanov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H. A. Varol, “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KazSAnDRA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Kazakh sentiment analysis dataset of reviews and attitudes,”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Zorenböhmer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EmoGRACE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Aspect-based emotion analysis for social media data,”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X. Liu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“Multimodal aspect-based sentiment analysis under conditional relation,”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Proc. COLING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Wu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“M-ABSA: A multilingual dataset for aspect-based sentiment analysis,”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 Ouyang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“ABSA with explicit sentiment augmentations,”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G. Thakkar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“M2SA: Multimodal and multilingual sentiment analysis of tweets,”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Sinha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SEntFiN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1.0: Entity-aware sentiment analysis for financial news,”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Y. Zhang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“Targeted distillation for sentiment analysis,”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W. Zhang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“Sentiment analysis in the era of large language models: A reality check,”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</p:txBody>
      </p:sp>
    </p:spTree>
    <p:extLst>
      <p:ext uri="{BB962C8B-B14F-4D97-AF65-F5344CB8AC3E}">
        <p14:creationId xmlns:p14="http://schemas.microsoft.com/office/powerpoint/2010/main" val="95580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AF551C-26A1-E41D-0C3C-ED460A8FECB2}"/>
              </a:ext>
            </a:extLst>
          </p:cNvPr>
          <p:cNvSpPr/>
          <p:nvPr/>
        </p:nvSpPr>
        <p:spPr>
          <a:xfrm>
            <a:off x="1600200" y="1872343"/>
            <a:ext cx="8991600" cy="29173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300144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B9593D-373F-8BE6-FEFC-E6A46BF99E80}"/>
              </a:ext>
            </a:extLst>
          </p:cNvPr>
          <p:cNvSpPr/>
          <p:nvPr/>
        </p:nvSpPr>
        <p:spPr>
          <a:xfrm>
            <a:off x="2329543" y="2035629"/>
            <a:ext cx="7532914" cy="23404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0076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2441</Words>
  <Application>Microsoft Office PowerPoint</Application>
  <PresentationFormat>Widescreen</PresentationFormat>
  <Paragraphs>282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Wingdings</vt:lpstr>
      <vt:lpstr>Office Theme</vt:lpstr>
      <vt:lpstr>Department of Computer Science and Engineering    Meta-Fusion Ensemble of Transformer Models for Robust Multilingual and Cross-Domain Sentiment 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Prasanna Panchumarthi</dc:creator>
  <cp:lastModifiedBy>Prasanna Panchumarthi</cp:lastModifiedBy>
  <cp:revision>5</cp:revision>
  <dcterms:created xsi:type="dcterms:W3CDTF">2025-11-09T17:50:57Z</dcterms:created>
  <dcterms:modified xsi:type="dcterms:W3CDTF">2025-12-04T18:59:46Z</dcterms:modified>
</cp:coreProperties>
</file>